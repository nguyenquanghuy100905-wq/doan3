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61" r:id="rId5"/>
    <p:sldId id="263" r:id="rId6"/>
    <p:sldId id="264" r:id="rId7"/>
    <p:sldId id="265" r:id="rId8"/>
    <p:sldId id="266" r:id="rId9"/>
    <p:sldId id="270" r:id="rId10"/>
    <p:sldId id="276" r:id="rId11"/>
    <p:sldId id="279" r:id="rId12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Josefin Sans" panose="020B0604020202020204" charset="0"/>
      <p:bold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65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44875"/>
            <a:ext cx="18288000" cy="4214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24177" y="0"/>
            <a:ext cx="7063825" cy="673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581890" y="5389849"/>
            <a:ext cx="1514301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b="1" dirty="0" smtClean="0">
                <a:solidFill>
                  <a:schemeClr val="bg1"/>
                </a:solidFill>
              </a:rPr>
              <a:t>ĐỒ ÁN 3</a:t>
            </a:r>
          </a:p>
          <a:p>
            <a:r>
              <a:rPr lang="en-US" sz="4000" b="1" dirty="0">
                <a:solidFill>
                  <a:schemeClr val="bg1"/>
                </a:solidFill>
              </a:rPr>
              <a:t>XÂY DỰNG WEBSITE QUẢN LÝ BÁN ĐIỆN THOẠI</a:t>
            </a:r>
            <a:endParaRPr lang="vi-VN" sz="4000" b="1" dirty="0">
              <a:solidFill>
                <a:schemeClr val="bg1"/>
              </a:solidFill>
            </a:endParaRPr>
          </a:p>
          <a:p>
            <a:r>
              <a:rPr lang="vi-VN" sz="4000" b="1" dirty="0" smtClean="0">
                <a:solidFill>
                  <a:schemeClr val="bg1"/>
                </a:solidFill>
              </a:rPr>
              <a:t>Sinh Viên: Đào Hải Anh</a:t>
            </a:r>
          </a:p>
          <a:p>
            <a:r>
              <a:rPr lang="vi-VN" sz="4000" b="1" dirty="0" smtClean="0">
                <a:solidFill>
                  <a:schemeClr val="bg1"/>
                </a:solidFill>
              </a:rPr>
              <a:t>Mã Lớp: 12522W4.CN</a:t>
            </a:r>
          </a:p>
          <a:p>
            <a:r>
              <a:rPr lang="vi-VN" sz="4000" b="1" dirty="0" smtClean="0">
                <a:solidFill>
                  <a:schemeClr val="bg1"/>
                </a:solidFill>
              </a:rPr>
              <a:t>Mã Sinh Viên: 12522001</a:t>
            </a:r>
          </a:p>
          <a:p>
            <a:r>
              <a:rPr lang="vi-VN" sz="4000" b="1" dirty="0" smtClean="0">
                <a:solidFill>
                  <a:schemeClr val="bg1"/>
                </a:solidFill>
              </a:rPr>
              <a:t>GV Hướng Dẫn: Hoàng Quốc Việt</a:t>
            </a:r>
            <a:endParaRPr lang="vi-VN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1028700" y="1009650"/>
            <a:ext cx="16523018" cy="162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8799" dirty="0" smtClean="0">
                <a:solidFill>
                  <a:srgbClr val="FFFFFF"/>
                </a:solidFill>
                <a:latin typeface="+mn-lt"/>
                <a:sym typeface="Josefin Sans"/>
              </a:rPr>
              <a:t>NỘI DUNG CHÍNH</a:t>
            </a:r>
            <a:endParaRPr dirty="0">
              <a:latin typeface="+mn-lt"/>
            </a:endParaRPr>
          </a:p>
        </p:txBody>
      </p:sp>
      <p:pic>
        <p:nvPicPr>
          <p:cNvPr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11325"/>
            <a:ext cx="18922353" cy="35756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1028700" y="3380508"/>
            <a:ext cx="133661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dirty="0" smtClean="0">
                <a:solidFill>
                  <a:schemeClr val="bg1"/>
                </a:solidFill>
              </a:rPr>
              <a:t>1.Tổng Quan Về Đề Tài </a:t>
            </a:r>
          </a:p>
          <a:p>
            <a:r>
              <a:rPr lang="vi-VN" sz="4000" dirty="0" smtClean="0">
                <a:solidFill>
                  <a:schemeClr val="bg1"/>
                </a:solidFill>
              </a:rPr>
              <a:t>2.Phân Tích, Xây Dựng Hệ Thống</a:t>
            </a:r>
          </a:p>
          <a:p>
            <a:r>
              <a:rPr lang="vi-VN" sz="4000" dirty="0" smtClean="0">
                <a:solidFill>
                  <a:schemeClr val="bg1"/>
                </a:solidFill>
              </a:rPr>
              <a:t>3.Xây Dựng Giao Diện</a:t>
            </a:r>
          </a:p>
          <a:p>
            <a:r>
              <a:rPr lang="vi-VN" sz="4000" dirty="0" smtClean="0">
                <a:solidFill>
                  <a:schemeClr val="bg1"/>
                </a:solidFill>
              </a:rPr>
              <a:t>4.Demo</a:t>
            </a:r>
          </a:p>
          <a:p>
            <a:r>
              <a:rPr lang="vi-VN" sz="4000" dirty="0" smtClean="0">
                <a:solidFill>
                  <a:schemeClr val="bg1"/>
                </a:solidFill>
              </a:rPr>
              <a:t>5.Kết Luận </a:t>
            </a:r>
          </a:p>
          <a:p>
            <a:endParaRPr lang="vi-VN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795908" y="1091984"/>
            <a:ext cx="1196679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8000" b="0" i="0" u="none" strike="noStrike" cap="none" dirty="0" smtClean="0">
                <a:solidFill>
                  <a:srgbClr val="FFFFFF"/>
                </a:solidFill>
                <a:latin typeface="+mn-lt"/>
                <a:ea typeface="Josefin Sans"/>
                <a:cs typeface="Josefin Sans"/>
                <a:sym typeface="Josefin Sans"/>
              </a:rPr>
              <a:t>Lí Do Chọn Đề Tài</a:t>
            </a:r>
            <a:endParaRPr sz="8000" dirty="0">
              <a:latin typeface="+mn-lt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2900" y="-639000"/>
            <a:ext cx="8839201" cy="5175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36925" y="0"/>
            <a:ext cx="6951074" cy="58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47660" y="2888812"/>
            <a:ext cx="15489868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vi-VN" altLang="vi-VN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vi-VN" altLang="vi-VN" sz="3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Bối cảnh thị trường:</a:t>
            </a:r>
            <a:r>
              <a:rPr kumimoji="0" lang="vi-VN" altLang="vi-VN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vi-VN" altLang="vi-VN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vi-VN" altLang="vi-VN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Thị trường điện thoại thông minh đang phát triển mạnh mẽ.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vi-VN" altLang="vi-VN" sz="3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Nhu cầu người tiêu dùng:</a:t>
            </a:r>
            <a:r>
              <a:rPr kumimoji="0" lang="vi-VN" altLang="vi-VN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vi-VN" altLang="vi-VN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vi-VN" altLang="vi-VN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Nhu cầu mua sắm điện thoại trực tuyến ngày càng tăng.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vi-VN" altLang="vi-VN" sz="3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Tính cần thiết của hệ thống:</a:t>
            </a:r>
            <a:r>
              <a:rPr kumimoji="0" lang="vi-VN" altLang="vi-VN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vi-VN" altLang="vi-VN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vi-VN" altLang="vi-VN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Cần có hệ thống quản lý bán điện thoại hiệu quả để hỗ trợ kinh doanh.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vi-VN" altLang="vi-VN" sz="3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Giá trị đề tài:</a:t>
            </a:r>
            <a:r>
              <a:rPr kumimoji="0" lang="vi-VN" altLang="vi-VN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vi-VN" altLang="vi-VN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vi-VN" altLang="vi-VN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Đề tài "Website quản lý bán điện thoại" có tính thực tiễn cao và phù hợp với xu hướng thị trường.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vi-VN" altLang="vi-VN" sz="2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0919" y="-539574"/>
            <a:ext cx="7927875" cy="11365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041" y="701875"/>
            <a:ext cx="7219949" cy="85530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8374743" y="701875"/>
            <a:ext cx="7286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800" dirty="0" smtClean="0">
                <a:solidFill>
                  <a:schemeClr val="bg1"/>
                </a:solidFill>
              </a:rPr>
              <a:t>MỤC TIÊU CHÍNH</a:t>
            </a:r>
            <a:endParaRPr lang="vi-VN" sz="48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924800" y="2743200"/>
            <a:ext cx="101309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>
                <a:solidFill>
                  <a:schemeClr val="bg1"/>
                </a:solidFill>
              </a:rPr>
              <a:t>1.Thiết Kế Website Thân Thiệt Với Người Dùng</a:t>
            </a:r>
          </a:p>
          <a:p>
            <a:endParaRPr lang="vi-VN" sz="3200" dirty="0" smtClean="0">
              <a:solidFill>
                <a:schemeClr val="bg1"/>
              </a:solidFill>
            </a:endParaRPr>
          </a:p>
          <a:p>
            <a:r>
              <a:rPr lang="vi-VN" sz="3200" dirty="0" smtClean="0">
                <a:solidFill>
                  <a:schemeClr val="bg1"/>
                </a:solidFill>
              </a:rPr>
              <a:t>2.Cung Cấp Các Chức Năng Tối Ưu Dễ Sử Dụng</a:t>
            </a:r>
          </a:p>
          <a:p>
            <a:endParaRPr lang="vi-VN" sz="3200" dirty="0" smtClean="0">
              <a:solidFill>
                <a:schemeClr val="bg1"/>
              </a:solidFill>
            </a:endParaRPr>
          </a:p>
          <a:p>
            <a:r>
              <a:rPr lang="vi-VN" sz="3200" dirty="0" smtClean="0">
                <a:solidFill>
                  <a:schemeClr val="bg1"/>
                </a:solidFill>
              </a:rPr>
              <a:t>3.Nâng Cao Hiệu Quả, Tiết Kiệm Thời Gian </a:t>
            </a:r>
            <a:endParaRPr lang="vi-V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-399896"/>
            <a:ext cx="18135598" cy="1108678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1965403" y="3518436"/>
            <a:ext cx="14357191" cy="3250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8800" b="0" i="0" u="none" strike="noStrike" cap="none" dirty="0" smtClean="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PHÂN TÍCH, XÂY DỰNG HỆ THỐNG</a:t>
            </a:r>
            <a:endParaRPr sz="8800" dirty="0"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2925" y="0"/>
            <a:ext cx="8239125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/>
        </p:nvSpPr>
        <p:spPr>
          <a:xfrm>
            <a:off x="1028689" y="668103"/>
            <a:ext cx="8364693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8000" dirty="0" smtClean="0">
                <a:solidFill>
                  <a:srgbClr val="FFFFFF"/>
                </a:solidFill>
                <a:latin typeface="Josefin Sans"/>
                <a:sym typeface="Josefin Sans"/>
              </a:rPr>
              <a:t>CÁC CHỨC NĂNG CHÍNH</a:t>
            </a:r>
            <a:endParaRPr sz="8000" dirty="0"/>
          </a:p>
        </p:txBody>
      </p:sp>
      <p:sp>
        <p:nvSpPr>
          <p:cNvPr id="175" name="Google Shape;175;p21"/>
          <p:cNvSpPr txBox="1"/>
          <p:nvPr/>
        </p:nvSpPr>
        <p:spPr>
          <a:xfrm>
            <a:off x="1028689" y="3675544"/>
            <a:ext cx="8156875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200" dirty="0" smtClean="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1. Thống Kê Doanh Thu </a:t>
            </a:r>
          </a:p>
          <a:p>
            <a:pPr marL="0" marR="0" lvl="0" indent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200" dirty="0" smtClean="0">
                <a:solidFill>
                  <a:srgbClr val="FFFFFF"/>
                </a:solidFill>
                <a:latin typeface="Josefin Sans"/>
                <a:sym typeface="Josefin Sans"/>
              </a:rPr>
              <a:t>2. Quản Lí Điện Thoại </a:t>
            </a:r>
          </a:p>
          <a:p>
            <a:pPr marL="0" marR="0" lvl="0" indent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200" dirty="0" smtClean="0">
                <a:solidFill>
                  <a:srgbClr val="FFFFFF"/>
                </a:solidFill>
                <a:latin typeface="Josefin Sans"/>
                <a:sym typeface="Josefin Sans"/>
              </a:rPr>
              <a:t>3. Quản Lí Danh Mục</a:t>
            </a:r>
          </a:p>
          <a:p>
            <a:pPr marL="0" marR="0" lvl="0" indent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200" dirty="0" smtClean="0">
                <a:solidFill>
                  <a:srgbClr val="FFFFFF"/>
                </a:solidFill>
                <a:latin typeface="Josefin Sans"/>
                <a:sym typeface="Josefin Sans"/>
              </a:rPr>
              <a:t>4. Quản Lí Người Dùng</a:t>
            </a:r>
          </a:p>
          <a:p>
            <a:pPr marL="0" marR="0" lvl="0" indent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200" dirty="0" smtClean="0">
                <a:solidFill>
                  <a:srgbClr val="FFFFFF"/>
                </a:solidFill>
                <a:latin typeface="Josefin Sans"/>
                <a:sym typeface="Josefin Sans"/>
              </a:rPr>
              <a:t>5. Quản Lí Hóa Đơn </a:t>
            </a:r>
            <a:endParaRPr sz="3200" dirty="0"/>
          </a:p>
        </p:txBody>
      </p:sp>
      <p:pic>
        <p:nvPicPr>
          <p:cNvPr id="176" name="Google Shape;17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36986" y="1763401"/>
            <a:ext cx="7851001" cy="7089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/>
        </p:nvSpPr>
        <p:spPr>
          <a:xfrm>
            <a:off x="3449781" y="268503"/>
            <a:ext cx="10820401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8000" b="0" i="0" u="none" strike="noStrike" cap="none" dirty="0" smtClean="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BIỂU ĐỒ USECASE TỔNG QUÁT</a:t>
            </a:r>
            <a:endParaRPr sz="8000" dirty="0"/>
          </a:p>
        </p:txBody>
      </p:sp>
      <p:pic>
        <p:nvPicPr>
          <p:cNvPr id="182" name="Google Shape;18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37310" y="-1676693"/>
            <a:ext cx="5153891" cy="3353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05179" y="-1221983"/>
            <a:ext cx="5480332" cy="3214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6727" y="2549236"/>
            <a:ext cx="13522037" cy="7094897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512" y="346780"/>
            <a:ext cx="2570925" cy="210232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 txBox="1"/>
          <p:nvPr/>
        </p:nvSpPr>
        <p:spPr>
          <a:xfrm>
            <a:off x="645512" y="585413"/>
            <a:ext cx="1623060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0" i="0" u="none" strike="noStrike" cap="none" dirty="0" smtClean="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CLASS </a:t>
            </a:r>
            <a:r>
              <a:rPr lang="en-US" sz="8000" b="0" i="0" u="none" strike="noStrike" cap="none" dirty="0" smtClean="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DIAGRAM</a:t>
            </a:r>
            <a:endParaRPr sz="8000" dirty="0"/>
          </a:p>
        </p:txBody>
      </p:sp>
      <p:pic>
        <p:nvPicPr>
          <p:cNvPr id="210" name="Google Shape;21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06104" y="346780"/>
            <a:ext cx="2570925" cy="2404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382" y="2036618"/>
            <a:ext cx="13009417" cy="8063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00" y="-2538150"/>
            <a:ext cx="17297398" cy="15363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7"/>
          <p:cNvSpPr txBox="1"/>
          <p:nvPr/>
        </p:nvSpPr>
        <p:spPr>
          <a:xfrm>
            <a:off x="1965403" y="3813905"/>
            <a:ext cx="14357191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0" b="0" i="0" u="none" strike="noStrike" cap="none" dirty="0" smtClean="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DEMO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-1317072"/>
            <a:ext cx="18288000" cy="12117579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3"/>
          <p:cNvSpPr txBox="1"/>
          <p:nvPr/>
        </p:nvSpPr>
        <p:spPr>
          <a:xfrm>
            <a:off x="235527" y="408687"/>
            <a:ext cx="7093528" cy="162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8799" dirty="0" smtClean="0">
                <a:solidFill>
                  <a:srgbClr val="FFFFFF"/>
                </a:solidFill>
                <a:latin typeface="Josefin Sans"/>
                <a:sym typeface="Josefin Sans"/>
              </a:rPr>
              <a:t>KẾT LUẬN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43345" y="2024560"/>
            <a:ext cx="793865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altLang="vi-VN" sz="2000" b="1" dirty="0">
                <a:solidFill>
                  <a:schemeClr val="bg1"/>
                </a:solidFill>
                <a:latin typeface="Arial" panose="020B0604020202020204" pitchFamily="34" charset="0"/>
              </a:rPr>
              <a:t>a) Kết quả đạt được: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altLang="vi-VN" sz="2000" b="1" dirty="0">
                <a:solidFill>
                  <a:schemeClr val="bg1"/>
                </a:solidFill>
                <a:latin typeface="Arial" panose="020B0604020202020204" pitchFamily="34" charset="0"/>
              </a:rPr>
              <a:t>Về kiến thức:</a:t>
            </a:r>
            <a:endParaRPr lang="vi-VN" altLang="vi-VN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altLang="vi-VN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-Hiểu </a:t>
            </a:r>
            <a:r>
              <a:rPr lang="vi-VN" altLang="vi-VN" sz="2000" dirty="0">
                <a:solidFill>
                  <a:schemeClr val="bg1"/>
                </a:solidFill>
                <a:latin typeface="Arial" panose="020B0604020202020204" pitchFamily="34" charset="0"/>
              </a:rPr>
              <a:t>quy trình xây dựng web theo mô hình Frontend - Backend.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altLang="vi-VN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-Sử </a:t>
            </a:r>
            <a:r>
              <a:rPr lang="vi-VN" altLang="vi-VN" sz="2000" dirty="0">
                <a:solidFill>
                  <a:schemeClr val="bg1"/>
                </a:solidFill>
                <a:latin typeface="Arial" panose="020B0604020202020204" pitchFamily="34" charset="0"/>
              </a:rPr>
              <a:t>dụng React, Next.js cho giao diện; Express.js và MySQL </a:t>
            </a:r>
            <a:r>
              <a:rPr lang="vi-VN" altLang="vi-VN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cho Backend</a:t>
            </a:r>
            <a:r>
              <a:rPr lang="vi-VN" altLang="vi-VN" sz="2000" dirty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altLang="vi-VN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-Quản </a:t>
            </a:r>
            <a:r>
              <a:rPr lang="vi-VN" altLang="vi-VN" sz="2000" dirty="0">
                <a:solidFill>
                  <a:schemeClr val="bg1"/>
                </a:solidFill>
                <a:latin typeface="Arial" panose="020B0604020202020204" pitchFamily="34" charset="0"/>
              </a:rPr>
              <a:t>lý trạng thái với useState, useContext, Redux.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altLang="vi-VN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-Làm </a:t>
            </a:r>
            <a:r>
              <a:rPr lang="vi-VN" altLang="vi-VN" sz="2000" dirty="0">
                <a:solidFill>
                  <a:schemeClr val="bg1"/>
                </a:solidFill>
                <a:latin typeface="Arial" panose="020B0604020202020204" pitchFamily="34" charset="0"/>
              </a:rPr>
              <a:t>quen mô hình MVC, thiết kế UI/UX, quản lý mã với Git.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altLang="vi-VN" sz="2000" b="1" dirty="0">
                <a:solidFill>
                  <a:schemeClr val="bg1"/>
                </a:solidFill>
                <a:latin typeface="Arial" panose="020B0604020202020204" pitchFamily="34" charset="0"/>
              </a:rPr>
              <a:t>Về sản phẩm:</a:t>
            </a:r>
            <a:endParaRPr lang="vi-VN" altLang="vi-VN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altLang="vi-VN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-Xây </a:t>
            </a:r>
            <a:r>
              <a:rPr lang="vi-VN" altLang="vi-VN" sz="2000" dirty="0">
                <a:solidFill>
                  <a:schemeClr val="bg1"/>
                </a:solidFill>
                <a:latin typeface="Arial" panose="020B0604020202020204" pitchFamily="34" charset="0"/>
              </a:rPr>
              <a:t>dựng website bán điện thoại với các chức năng: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altLang="vi-VN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+Danh sách, chi tiết sản phẩm.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altLang="vi-VN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+Giỏ hàng, đăng nhập/đăng ký.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altLang="vi-VN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+Đặt </a:t>
            </a:r>
            <a:r>
              <a:rPr lang="vi-VN" altLang="vi-VN" sz="2000" dirty="0">
                <a:solidFill>
                  <a:schemeClr val="bg1"/>
                </a:solidFill>
                <a:latin typeface="Arial" panose="020B0604020202020204" pitchFamily="34" charset="0"/>
              </a:rPr>
              <a:t>hàng, quản lý đơn hàng.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altLang="vi-VN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+Trang </a:t>
            </a:r>
            <a:r>
              <a:rPr lang="vi-VN" altLang="vi-VN" sz="2000" dirty="0">
                <a:solidFill>
                  <a:schemeClr val="bg1"/>
                </a:solidFill>
                <a:latin typeface="Arial" panose="020B0604020202020204" pitchFamily="34" charset="0"/>
              </a:rPr>
              <a:t>quản trị (thêm/sửa/xoá sản phẩm, đơn hàng</a:t>
            </a:r>
            <a:r>
              <a:rPr lang="vi-VN" altLang="vi-VN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).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vi-VN" altLang="vi-VN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vi-VN" altLang="vi-VN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endParaRPr lang="vi-VN" sz="2000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3999" y="2033619"/>
            <a:ext cx="749530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>
                <a:solidFill>
                  <a:schemeClr val="bg1"/>
                </a:solidFill>
              </a:rPr>
              <a:t>b) Hạn chế:</a:t>
            </a:r>
          </a:p>
          <a:p>
            <a:r>
              <a:rPr lang="vi-VN" sz="2000" b="1" dirty="0">
                <a:solidFill>
                  <a:schemeClr val="bg1"/>
                </a:solidFill>
              </a:rPr>
              <a:t>Về sản phẩm:</a:t>
            </a:r>
            <a:endParaRPr lang="vi-VN" sz="2000" dirty="0">
              <a:solidFill>
                <a:schemeClr val="bg1"/>
              </a:solidFill>
            </a:endParaRPr>
          </a:p>
          <a:p>
            <a:r>
              <a:rPr lang="vi-VN" sz="2000" dirty="0" smtClean="0">
                <a:solidFill>
                  <a:schemeClr val="bg1"/>
                </a:solidFill>
              </a:rPr>
              <a:t>-Thiếu </a:t>
            </a:r>
            <a:r>
              <a:rPr lang="vi-VN" sz="2000" dirty="0">
                <a:solidFill>
                  <a:schemeClr val="bg1"/>
                </a:solidFill>
              </a:rPr>
              <a:t>tìm kiếm nâng cao, thanh toán online.</a:t>
            </a:r>
          </a:p>
          <a:p>
            <a:r>
              <a:rPr lang="vi-VN" sz="2000" dirty="0" smtClean="0">
                <a:solidFill>
                  <a:schemeClr val="bg1"/>
                </a:solidFill>
              </a:rPr>
              <a:t>-Trang </a:t>
            </a:r>
            <a:r>
              <a:rPr lang="vi-VN" sz="2000" dirty="0">
                <a:solidFill>
                  <a:schemeClr val="bg1"/>
                </a:solidFill>
              </a:rPr>
              <a:t>quản trị đơn giản, chưa phân quyền.</a:t>
            </a:r>
          </a:p>
          <a:p>
            <a:r>
              <a:rPr lang="vi-VN" sz="2000" dirty="0" smtClean="0">
                <a:solidFill>
                  <a:schemeClr val="bg1"/>
                </a:solidFill>
              </a:rPr>
              <a:t>-Thiếu </a:t>
            </a:r>
            <a:r>
              <a:rPr lang="vi-VN" sz="2000" dirty="0">
                <a:solidFill>
                  <a:schemeClr val="bg1"/>
                </a:solidFill>
              </a:rPr>
              <a:t>đánh giá sản phẩm, chưa responsive.</a:t>
            </a:r>
          </a:p>
          <a:p>
            <a:r>
              <a:rPr lang="vi-VN" sz="2000" b="1" dirty="0">
                <a:solidFill>
                  <a:schemeClr val="bg1"/>
                </a:solidFill>
              </a:rPr>
              <a:t>Về kỹ năng:</a:t>
            </a:r>
            <a:endParaRPr lang="vi-VN" sz="2000" dirty="0">
              <a:solidFill>
                <a:schemeClr val="bg1"/>
              </a:solidFill>
            </a:endParaRPr>
          </a:p>
          <a:p>
            <a:r>
              <a:rPr lang="vi-VN" sz="2000" dirty="0" smtClean="0">
                <a:solidFill>
                  <a:schemeClr val="bg1"/>
                </a:solidFill>
              </a:rPr>
              <a:t>-Phân </a:t>
            </a:r>
            <a:r>
              <a:rPr lang="vi-VN" sz="2000" dirty="0">
                <a:solidFill>
                  <a:schemeClr val="bg1"/>
                </a:solidFill>
              </a:rPr>
              <a:t>tích hệ thống còn yếu.</a:t>
            </a:r>
          </a:p>
          <a:p>
            <a:r>
              <a:rPr lang="vi-VN" sz="2000" dirty="0" smtClean="0">
                <a:solidFill>
                  <a:schemeClr val="bg1"/>
                </a:solidFill>
              </a:rPr>
              <a:t>-Kinh </a:t>
            </a:r>
            <a:r>
              <a:rPr lang="vi-VN" sz="2000" dirty="0">
                <a:solidFill>
                  <a:schemeClr val="bg1"/>
                </a:solidFill>
              </a:rPr>
              <a:t>nghiệm bảo mật và xử lý lỗi còn thiếu.</a:t>
            </a:r>
          </a:p>
          <a:p>
            <a:r>
              <a:rPr lang="vi-VN" sz="2000" dirty="0" smtClean="0">
                <a:solidFill>
                  <a:schemeClr val="bg1"/>
                </a:solidFill>
              </a:rPr>
              <a:t>-Chưa </a:t>
            </a:r>
            <a:r>
              <a:rPr lang="vi-VN" sz="2000" dirty="0">
                <a:solidFill>
                  <a:schemeClr val="bg1"/>
                </a:solidFill>
              </a:rPr>
              <a:t>tối ưu mã nguồn, chưa thành thạo deploy.</a:t>
            </a:r>
          </a:p>
          <a:p>
            <a:endParaRPr lang="vi-VN" sz="2000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82000" y="5750813"/>
            <a:ext cx="932410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>
                <a:solidFill>
                  <a:schemeClr val="bg1"/>
                </a:solidFill>
              </a:rPr>
              <a:t>c) Hướng phát triển:</a:t>
            </a:r>
          </a:p>
          <a:p>
            <a:r>
              <a:rPr lang="vi-VN" sz="2000" b="1" dirty="0">
                <a:solidFill>
                  <a:schemeClr val="bg1"/>
                </a:solidFill>
              </a:rPr>
              <a:t>Về sản phẩm:</a:t>
            </a:r>
            <a:endParaRPr lang="vi-VN" sz="2000" dirty="0">
              <a:solidFill>
                <a:schemeClr val="bg1"/>
              </a:solidFill>
            </a:endParaRPr>
          </a:p>
          <a:p>
            <a:r>
              <a:rPr lang="vi-VN" sz="2000" dirty="0" smtClean="0">
                <a:solidFill>
                  <a:schemeClr val="bg1"/>
                </a:solidFill>
              </a:rPr>
              <a:t>-Thêm </a:t>
            </a:r>
            <a:r>
              <a:rPr lang="vi-VN" sz="2000" dirty="0">
                <a:solidFill>
                  <a:schemeClr val="bg1"/>
                </a:solidFill>
              </a:rPr>
              <a:t>thanh toán online, lọc nâng cao, phân quyền.</a:t>
            </a:r>
          </a:p>
          <a:p>
            <a:r>
              <a:rPr lang="vi-VN" sz="2000" dirty="0" smtClean="0">
                <a:solidFill>
                  <a:schemeClr val="bg1"/>
                </a:solidFill>
              </a:rPr>
              <a:t>-Đánh </a:t>
            </a:r>
            <a:r>
              <a:rPr lang="vi-VN" sz="2000" dirty="0">
                <a:solidFill>
                  <a:schemeClr val="bg1"/>
                </a:solidFill>
              </a:rPr>
              <a:t>giá sản phẩm, giao diện responsive.</a:t>
            </a:r>
          </a:p>
          <a:p>
            <a:r>
              <a:rPr lang="vi-VN" sz="2000" dirty="0" smtClean="0">
                <a:solidFill>
                  <a:schemeClr val="bg1"/>
                </a:solidFill>
              </a:rPr>
              <a:t>-Biểu </a:t>
            </a:r>
            <a:r>
              <a:rPr lang="vi-VN" sz="2000" dirty="0">
                <a:solidFill>
                  <a:schemeClr val="bg1"/>
                </a:solidFill>
              </a:rPr>
              <a:t>đồ thống kê, gợi ý sản phẩm bằng AI.</a:t>
            </a:r>
          </a:p>
          <a:p>
            <a:r>
              <a:rPr lang="vi-VN" sz="2000" b="1" dirty="0">
                <a:solidFill>
                  <a:schemeClr val="bg1"/>
                </a:solidFill>
              </a:rPr>
              <a:t>Về kỹ năng:</a:t>
            </a:r>
            <a:endParaRPr lang="vi-VN" sz="2000" dirty="0">
              <a:solidFill>
                <a:schemeClr val="bg1"/>
              </a:solidFill>
            </a:endParaRPr>
          </a:p>
          <a:p>
            <a:r>
              <a:rPr lang="vi-VN" sz="2000" dirty="0" smtClean="0">
                <a:solidFill>
                  <a:schemeClr val="bg1"/>
                </a:solidFill>
              </a:rPr>
              <a:t>-Nâng </a:t>
            </a:r>
            <a:r>
              <a:rPr lang="vi-VN" sz="2000" dirty="0">
                <a:solidFill>
                  <a:schemeClr val="bg1"/>
                </a:solidFill>
              </a:rPr>
              <a:t>cao bảo mật, tối ưu API.</a:t>
            </a:r>
          </a:p>
          <a:p>
            <a:r>
              <a:rPr lang="vi-VN" sz="2000" dirty="0" smtClean="0">
                <a:solidFill>
                  <a:schemeClr val="bg1"/>
                </a:solidFill>
              </a:rPr>
              <a:t>-Triển </a:t>
            </a:r>
            <a:r>
              <a:rPr lang="vi-VN" sz="2000" dirty="0">
                <a:solidFill>
                  <a:schemeClr val="bg1"/>
                </a:solidFill>
              </a:rPr>
              <a:t>khai production (Vercel, Render...).</a:t>
            </a:r>
          </a:p>
          <a:p>
            <a:r>
              <a:rPr lang="vi-VN" sz="2000" dirty="0" smtClean="0">
                <a:solidFill>
                  <a:schemeClr val="bg1"/>
                </a:solidFill>
              </a:rPr>
              <a:t>-Học </a:t>
            </a:r>
            <a:r>
              <a:rPr lang="vi-VN" sz="2000" dirty="0">
                <a:solidFill>
                  <a:schemeClr val="bg1"/>
                </a:solidFill>
              </a:rPr>
              <a:t>thêm về Design Patterns.</a:t>
            </a:r>
          </a:p>
          <a:p>
            <a:endParaRPr lang="vi-V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/>
        </p:nvSpPr>
        <p:spPr>
          <a:xfrm>
            <a:off x="1028700" y="4109085"/>
            <a:ext cx="68805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 b="0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Thank you!</a:t>
            </a:r>
            <a:endParaRPr/>
          </a:p>
        </p:txBody>
      </p:sp>
      <p:sp>
        <p:nvSpPr>
          <p:cNvPr id="361" name="Google Shape;361;p36"/>
          <p:cNvSpPr txBox="1"/>
          <p:nvPr/>
        </p:nvSpPr>
        <p:spPr>
          <a:xfrm>
            <a:off x="1028700" y="5623560"/>
            <a:ext cx="6880363" cy="34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 closing statement or call-to-action here.</a:t>
            </a:r>
            <a:endParaRPr/>
          </a:p>
        </p:txBody>
      </p:sp>
      <p:pic>
        <p:nvPicPr>
          <p:cNvPr id="362" name="Google Shape;36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2133" y="0"/>
            <a:ext cx="12521068" cy="1028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3947" y="1111276"/>
            <a:ext cx="7639250" cy="7350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434</Words>
  <Application>Microsoft Office PowerPoint</Application>
  <PresentationFormat>Custom</PresentationFormat>
  <Paragraphs>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Arial</vt:lpstr>
      <vt:lpstr>Josefin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Anh Hai</dc:creator>
  <cp:lastModifiedBy>Hai Anh</cp:lastModifiedBy>
  <cp:revision>8</cp:revision>
  <dcterms:modified xsi:type="dcterms:W3CDTF">2025-06-17T14:50:31Z</dcterms:modified>
</cp:coreProperties>
</file>